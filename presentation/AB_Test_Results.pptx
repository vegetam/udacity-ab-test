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8" r:id="rId9"/>
    <p:sldId id="259" r:id="rId10"/>
    <p:sldId id="260" r:id="rId11"/>
    <p:sldId id="261" r:id="rId12"/>
  </p:sldIdLst>
  <p:sldSz cy="10287000" cx="18288000"/>
  <p:notesSz cx="6858000" cy="9144000"/>
  <p:embeddedFontLst>
    <p:embeddedFont>
      <p:font typeface="Roboto Mono Light"/>
      <p:regular r:id="rId13"/>
      <p:bold r:id="rId14"/>
      <p:italic r:id="rId15"/>
      <p:boldItalic r:id="rId16"/>
    </p:embeddedFont>
    <p:embeddedFont>
      <p:font typeface="Open Sans Light"/>
      <p:regular r:id="rId17"/>
      <p:bold r:id="rId18"/>
      <p:italic r:id="rId19"/>
      <p:boldItalic r:id="rId20"/>
    </p:embeddedFont>
    <p:embeddedFont>
      <p:font typeface="Open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240">
          <p15:clr>
            <a:srgbClr val="A4A3A4"/>
          </p15:clr>
        </p15:guide>
        <p15:guide id="2" pos="57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C8DA9E-B1A0-4A86-91D4-0D2497F3468D}">
  <a:tblStyle styleId="{E1C8DA9E-B1A0-4A86-91D4-0D2497F3468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240" orient="horz"/>
        <p:guide pos="576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font" Target="fonts/RobotoMonoLight-regular.fntdata"/><Relationship Id="rId14" Type="http://schemas.openxmlformats.org/officeDocument/2006/relationships/font" Target="fonts/RobotoMonoLight-bold.fntdata"/><Relationship Id="rId15" Type="http://schemas.openxmlformats.org/officeDocument/2006/relationships/font" Target="fonts/RobotoMonoLight-italic.fntdata"/><Relationship Id="rId16" Type="http://schemas.openxmlformats.org/officeDocument/2006/relationships/font" Target="fonts/RobotoMonoLight-boldItalic.fntdata"/><Relationship Id="rId17" Type="http://schemas.openxmlformats.org/officeDocument/2006/relationships/font" Target="fonts/OpenSansLight-regular.fntdata"/><Relationship Id="rId18" Type="http://schemas.openxmlformats.org/officeDocument/2006/relationships/font" Target="fonts/OpenSansLight-bold.fntdata"/><Relationship Id="rId19" Type="http://schemas.openxmlformats.org/officeDocument/2006/relationships/font" Target="fonts/OpenSansLight-italic.fntdata"/><Relationship Id="rId20" Type="http://schemas.openxmlformats.org/officeDocument/2006/relationships/font" Target="fonts/OpenSansLight-boldItalic.fntdata"/><Relationship Id="rId21" Type="http://schemas.openxmlformats.org/officeDocument/2006/relationships/font" Target="fonts/OpenSans-regular.fntdata"/><Relationship Id="rId22" Type="http://schemas.openxmlformats.org/officeDocument/2006/relationships/font" Target="fonts/OpenSans-bold.fntdata"/><Relationship Id="rId23" Type="http://schemas.openxmlformats.org/officeDocument/2006/relationships/font" Target="fonts/OpenSans-italic.fntdata"/><Relationship Id="rId24" Type="http://schemas.openxmlformats.org/officeDocument/2006/relationships/font" Target="fonts/Open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05b2e72063_0_23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05b2e72063_0_23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13dd687b2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13dd687b2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13dd687b2d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13dd687b2d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3dd687b2d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13dd687b2d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13dd687b2d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13dd687b2d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.a Lesson Title ">
  <p:cSld name="TITLE_1">
    <p:bg>
      <p:bgPr>
        <a:solidFill>
          <a:schemeClr val="dk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-3409" l="0" r="0" t="3419"/>
          <a:stretch/>
        </p:blipFill>
        <p:spPr>
          <a:xfrm>
            <a:off x="1239650" y="1254250"/>
            <a:ext cx="2877300" cy="54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ctrTitle"/>
          </p:nvPr>
        </p:nvSpPr>
        <p:spPr>
          <a:xfrm>
            <a:off x="1225200" y="2813950"/>
            <a:ext cx="10070400" cy="2479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Font typeface="Open Sans Light"/>
              <a:buNone/>
              <a:defRPr sz="9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  <p:sp>
        <p:nvSpPr>
          <p:cNvPr id="13" name="Google Shape;13;p2"/>
          <p:cNvSpPr txBox="1"/>
          <p:nvPr/>
        </p:nvSpPr>
        <p:spPr>
          <a:xfrm>
            <a:off x="1225200" y="5937550"/>
            <a:ext cx="10070400" cy="12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1256200" y="5959675"/>
            <a:ext cx="10039800" cy="832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  <p:grpSp>
        <p:nvGrpSpPr>
          <p:cNvPr id="15" name="Google Shape;15;p2"/>
          <p:cNvGrpSpPr/>
          <p:nvPr/>
        </p:nvGrpSpPr>
        <p:grpSpPr>
          <a:xfrm>
            <a:off x="1232067" y="1034380"/>
            <a:ext cx="3497101" cy="986219"/>
            <a:chOff x="989538" y="1051025"/>
            <a:chExt cx="3377536" cy="952500"/>
          </a:xfrm>
        </p:grpSpPr>
        <p:pic>
          <p:nvPicPr>
            <p:cNvPr id="16" name="Google Shape;16;p2"/>
            <p:cNvPicPr preferRelativeResize="0"/>
            <p:nvPr/>
          </p:nvPicPr>
          <p:blipFill rotWithShape="1">
            <a:blip r:embed="rId2">
              <a:alphaModFix/>
            </a:blip>
            <a:srcRect b="-3409" l="0" r="0" t="3419"/>
            <a:stretch/>
          </p:blipFill>
          <p:spPr>
            <a:xfrm>
              <a:off x="1239650" y="1254250"/>
              <a:ext cx="2877300" cy="5460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7;p2"/>
            <p:cNvSpPr/>
            <p:nvPr/>
          </p:nvSpPr>
          <p:spPr>
            <a:xfrm>
              <a:off x="995600" y="1051025"/>
              <a:ext cx="3365400" cy="952500"/>
            </a:xfrm>
            <a:prstGeom prst="rect">
              <a:avLst/>
            </a:prstGeom>
            <a:solidFill>
              <a:srgbClr val="171A53"/>
            </a:solidFill>
            <a:ln cap="flat" cmpd="sng" w="9525">
              <a:solidFill>
                <a:srgbClr val="171A5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0">
                <a:solidFill>
                  <a:srgbClr val="171A53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18" name="Google Shape;18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989538" y="1058076"/>
              <a:ext cx="3377536" cy="9384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2"/>
          <p:cNvSpPr txBox="1"/>
          <p:nvPr/>
        </p:nvSpPr>
        <p:spPr>
          <a:xfrm>
            <a:off x="279350" y="9860050"/>
            <a:ext cx="79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7D97AD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© 2024 Udacity. </a:t>
            </a:r>
            <a:endParaRPr sz="10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.b Lesson Title (Designer or Producer Only)">
  <p:cSld name="SECTION_HEADER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" y="0"/>
            <a:ext cx="18288000" cy="1028698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type="title"/>
          </p:nvPr>
        </p:nvSpPr>
        <p:spPr>
          <a:xfrm>
            <a:off x="1225200" y="3735300"/>
            <a:ext cx="15837600" cy="2816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600"/>
              <a:buFont typeface="Open Sans Light"/>
              <a:buNone/>
              <a:defRPr sz="76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  <p:sp>
        <p:nvSpPr>
          <p:cNvPr id="23" name="Google Shape;23;p3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a Full Bullet">
  <p:cSld name="TITLE_AND_BODY_1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" name="Google Shape;27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4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685825" y="1828800"/>
            <a:ext cx="169164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0" name="Google Shape;30;p4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1" name="Google Shape;31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760">
          <p15:clr>
            <a:schemeClr val="accent1"/>
          </p15:clr>
        </p15:guide>
        <p15:guide id="5" orient="horz" pos="936">
          <p15:clr>
            <a:schemeClr val="accent1"/>
          </p15:clr>
        </p15:guide>
        <p15:guide id="6" orient="horz" pos="5328">
          <p15:clr>
            <a:schemeClr val="accent1"/>
          </p15:clr>
        </p15:guide>
        <p15:guide id="7" orient="horz" pos="1152">
          <p15:clr>
            <a:schemeClr val="accent1"/>
          </p15:clr>
        </p15:guide>
        <p15:guide id="8" pos="5760">
          <p15:clr>
            <a:srgbClr val="E46962"/>
          </p15:clr>
        </p15:guide>
        <p15:guide id="9" orient="horz" pos="3132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g Full Graphic">
  <p:cSld name="TITLE_ONLY_1_1_1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>
            <a:off x="300" y="0"/>
            <a:ext cx="18288000" cy="113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5"/>
          <p:cNvSpPr txBox="1"/>
          <p:nvPr>
            <p:ph type="title"/>
          </p:nvPr>
        </p:nvSpPr>
        <p:spPr>
          <a:xfrm>
            <a:off x="685800" y="0"/>
            <a:ext cx="16916400" cy="11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Open Sans Light"/>
              <a:buNone/>
              <a:defRPr sz="4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5" name="Google Shape;3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7750" y="9434275"/>
            <a:ext cx="2619803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5760">
          <p15:clr>
            <a:schemeClr val="accent1"/>
          </p15:clr>
        </p15:guide>
        <p15:guide id="4" orient="horz" pos="717">
          <p15:clr>
            <a:schemeClr val="accent1"/>
          </p15:clr>
        </p15:guide>
        <p15:guide id="5" pos="5760">
          <p15:clr>
            <a:srgbClr val="E46962"/>
          </p15:clr>
        </p15:guide>
        <p15:guide id="6" orient="horz" pos="3240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b Third Card">
  <p:cSld name="TITLE_AND_BODY_1_1_1_3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6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9" name="Google Shape;39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6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6"/>
          <p:cNvSpPr/>
          <p:nvPr/>
        </p:nvSpPr>
        <p:spPr>
          <a:xfrm>
            <a:off x="11623800" y="684300"/>
            <a:ext cx="5978400" cy="7774200"/>
          </a:xfrm>
          <a:prstGeom prst="round1Rect">
            <a:avLst>
              <a:gd fmla="val 28421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6"/>
          <p:cNvSpPr txBox="1"/>
          <p:nvPr/>
        </p:nvSpPr>
        <p:spPr>
          <a:xfrm>
            <a:off x="12058350" y="1523388"/>
            <a:ext cx="39150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t/>
            </a:r>
            <a:endParaRPr b="1" sz="26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3" name="Google Shape;43;p6"/>
          <p:cNvSpPr txBox="1"/>
          <p:nvPr>
            <p:ph idx="1" type="body"/>
          </p:nvPr>
        </p:nvSpPr>
        <p:spPr>
          <a:xfrm>
            <a:off x="12058350" y="2629500"/>
            <a:ext cx="5109600" cy="539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6"/>
          <p:cNvSpPr txBox="1"/>
          <p:nvPr>
            <p:ph idx="2" type="subTitle"/>
          </p:nvPr>
        </p:nvSpPr>
        <p:spPr>
          <a:xfrm>
            <a:off x="12058350" y="1120500"/>
            <a:ext cx="4868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  <p:sp>
        <p:nvSpPr>
          <p:cNvPr id="45" name="Google Shape;45;p6"/>
          <p:cNvSpPr txBox="1"/>
          <p:nvPr>
            <p:ph type="title"/>
          </p:nvPr>
        </p:nvSpPr>
        <p:spPr>
          <a:xfrm>
            <a:off x="685800" y="307975"/>
            <a:ext cx="102522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3" type="body"/>
          </p:nvPr>
        </p:nvSpPr>
        <p:spPr>
          <a:xfrm>
            <a:off x="685825" y="1828800"/>
            <a:ext cx="102522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760">
          <p15:clr>
            <a:schemeClr val="accent1"/>
          </p15:clr>
        </p15:guide>
        <p15:guide id="5" orient="horz" pos="5328">
          <p15:clr>
            <a:schemeClr val="accent1"/>
          </p15:clr>
        </p15:guide>
        <p15:guide id="6" pos="10814">
          <p15:clr>
            <a:schemeClr val="accent1"/>
          </p15:clr>
        </p15:guide>
        <p15:guide id="7" pos="7596">
          <p15:clr>
            <a:schemeClr val="accent1"/>
          </p15:clr>
        </p15:guide>
        <p15:guide id="8" orient="horz" pos="5054">
          <p15:clr>
            <a:schemeClr val="accent2"/>
          </p15:clr>
        </p15:guide>
        <p15:guide id="9" pos="6890">
          <p15:clr>
            <a:schemeClr val="accent1"/>
          </p15:clr>
        </p15:guide>
        <p15:guide id="10" pos="7322">
          <p15:clr>
            <a:schemeClr val="accent1"/>
          </p15:clr>
        </p15:guide>
        <p15:guide id="11" orient="horz" pos="1152">
          <p15:clr>
            <a:schemeClr val="accent2"/>
          </p15:clr>
        </p15:guide>
        <p15:guide id="12" orient="horz" pos="939">
          <p15:clr>
            <a:schemeClr val="accent1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c Half Card">
  <p:cSld name="TITLE_AND_BODY_1_1_1_2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7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50" name="Google Shape;50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7"/>
          <p:cNvSpPr/>
          <p:nvPr/>
        </p:nvSpPr>
        <p:spPr>
          <a:xfrm>
            <a:off x="9829800" y="684300"/>
            <a:ext cx="7772400" cy="77742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10264500" y="2194800"/>
            <a:ext cx="6903000" cy="582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4" name="Google Shape;54;p7"/>
          <p:cNvSpPr txBox="1"/>
          <p:nvPr>
            <p:ph idx="2" type="subTitle"/>
          </p:nvPr>
        </p:nvSpPr>
        <p:spPr>
          <a:xfrm>
            <a:off x="10264500" y="1120500"/>
            <a:ext cx="6662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  <p:sp>
        <p:nvSpPr>
          <p:cNvPr id="55" name="Google Shape;55;p7"/>
          <p:cNvSpPr txBox="1"/>
          <p:nvPr>
            <p:ph type="title"/>
          </p:nvPr>
        </p:nvSpPr>
        <p:spPr>
          <a:xfrm>
            <a:off x="685800" y="307975"/>
            <a:ext cx="95790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685825" y="1828800"/>
            <a:ext cx="102522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10814">
          <p15:clr>
            <a:schemeClr val="accent1"/>
          </p15:clr>
        </p15:guide>
        <p15:guide id="6" pos="6466">
          <p15:clr>
            <a:schemeClr val="accent1"/>
          </p15:clr>
        </p15:guide>
        <p15:guide id="7" orient="horz" pos="5054">
          <p15:clr>
            <a:schemeClr val="accent2"/>
          </p15:clr>
        </p15:guide>
        <p15:guide id="8" pos="5760">
          <p15:clr>
            <a:schemeClr val="accent1"/>
          </p15:clr>
        </p15:guide>
        <p15:guide id="9" pos="6192">
          <p15:clr>
            <a:schemeClr val="accent1"/>
          </p15:clr>
        </p15:guide>
        <p15:guide id="10" orient="horz" pos="1152">
          <p15:clr>
            <a:schemeClr val="accent2"/>
          </p15:clr>
        </p15:guide>
        <p15:guide id="11" orient="horz" pos="939">
          <p15:clr>
            <a:schemeClr val="accent1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e Dual Card">
  <p:cSld name="CUSTOM_1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8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60" name="Google Shape;6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8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8"/>
          <p:cNvSpPr/>
          <p:nvPr/>
        </p:nvSpPr>
        <p:spPr>
          <a:xfrm>
            <a:off x="9487100" y="684300"/>
            <a:ext cx="8115000" cy="77742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8"/>
          <p:cNvSpPr/>
          <p:nvPr/>
        </p:nvSpPr>
        <p:spPr>
          <a:xfrm flipH="1" rot="-5400000">
            <a:off x="846450" y="495600"/>
            <a:ext cx="7786200" cy="81378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8"/>
          <p:cNvSpPr txBox="1"/>
          <p:nvPr>
            <p:ph idx="1" type="body"/>
          </p:nvPr>
        </p:nvSpPr>
        <p:spPr>
          <a:xfrm>
            <a:off x="1120500" y="1935300"/>
            <a:ext cx="7245600" cy="60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5" name="Google Shape;65;p8"/>
          <p:cNvSpPr txBox="1"/>
          <p:nvPr>
            <p:ph idx="2" type="subTitle"/>
          </p:nvPr>
        </p:nvSpPr>
        <p:spPr>
          <a:xfrm>
            <a:off x="1120500" y="1007100"/>
            <a:ext cx="7245600" cy="66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  <p:sp>
        <p:nvSpPr>
          <p:cNvPr id="66" name="Google Shape;66;p8"/>
          <p:cNvSpPr txBox="1"/>
          <p:nvPr>
            <p:ph idx="3" type="body"/>
          </p:nvPr>
        </p:nvSpPr>
        <p:spPr>
          <a:xfrm>
            <a:off x="9921800" y="1935300"/>
            <a:ext cx="7245600" cy="60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7" name="Google Shape;67;p8"/>
          <p:cNvSpPr txBox="1"/>
          <p:nvPr>
            <p:ph idx="4" type="subTitle"/>
          </p:nvPr>
        </p:nvSpPr>
        <p:spPr>
          <a:xfrm>
            <a:off x="9921800" y="1007100"/>
            <a:ext cx="7245600" cy="66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80">
          <p15:clr>
            <a:srgbClr val="FF0000"/>
          </p15:clr>
        </p15:guide>
        <p15:guide id="2" pos="5760">
          <p15:clr>
            <a:srgbClr val="FF0000"/>
          </p15:clr>
        </p15:guide>
        <p15:guide id="3" pos="423">
          <p15:clr>
            <a:schemeClr val="accent1"/>
          </p15:clr>
        </p15:guide>
        <p15:guide id="4" orient="horz" pos="423">
          <p15:clr>
            <a:schemeClr val="accent1"/>
          </p15:clr>
        </p15:guide>
        <p15:guide id="5" pos="5553">
          <p15:clr>
            <a:schemeClr val="accent1"/>
          </p15:clr>
        </p15:guide>
        <p15:guide id="6" pos="5976">
          <p15:clr>
            <a:schemeClr val="accent1"/>
          </p15:clr>
        </p15:guide>
        <p15:guide id="7" orient="horz" pos="5328">
          <p15:clr>
            <a:schemeClr val="accent1"/>
          </p15:clr>
        </p15:guide>
        <p15:guide id="8" pos="11088">
          <p15:clr>
            <a:schemeClr val="accent1"/>
          </p15:clr>
        </p15:guide>
        <p15:guide id="9" pos="706">
          <p15:clr>
            <a:schemeClr val="accent1"/>
          </p15:clr>
        </p15:guide>
        <p15:guide id="10" pos="5275">
          <p15:clr>
            <a:schemeClr val="accent1"/>
          </p15:clr>
        </p15:guide>
        <p15:guide id="11" pos="6250">
          <p15:clr>
            <a:schemeClr val="accent1"/>
          </p15:clr>
        </p15:guide>
        <p15:guide id="12" pos="10814">
          <p15:clr>
            <a:schemeClr val="accent1"/>
          </p15:clr>
        </p15:guide>
        <p15:guide id="13" orient="horz" pos="1219">
          <p15:clr>
            <a:schemeClr val="accent2"/>
          </p15:clr>
        </p15:guide>
        <p15:guide id="14" orient="horz" pos="5054">
          <p15:clr>
            <a:schemeClr val="accent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f Triple Card ">
  <p:cSld name="CUSTOM_11_1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9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9"/>
          <p:cNvSpPr/>
          <p:nvPr/>
        </p:nvSpPr>
        <p:spPr>
          <a:xfrm>
            <a:off x="6547175" y="1935900"/>
            <a:ext cx="5193600" cy="65226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9"/>
          <p:cNvSpPr/>
          <p:nvPr/>
        </p:nvSpPr>
        <p:spPr>
          <a:xfrm>
            <a:off x="685800" y="1935900"/>
            <a:ext cx="5193600" cy="65226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9"/>
          <p:cNvSpPr/>
          <p:nvPr/>
        </p:nvSpPr>
        <p:spPr>
          <a:xfrm>
            <a:off x="12408550" y="1935900"/>
            <a:ext cx="5193600" cy="65226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9"/>
          <p:cNvSpPr txBox="1"/>
          <p:nvPr>
            <p:ph idx="1" type="body"/>
          </p:nvPr>
        </p:nvSpPr>
        <p:spPr>
          <a:xfrm>
            <a:off x="1120500" y="3278700"/>
            <a:ext cx="4324200" cy="44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7" name="Google Shape;77;p9"/>
          <p:cNvSpPr txBox="1"/>
          <p:nvPr>
            <p:ph idx="2" type="subTitle"/>
          </p:nvPr>
        </p:nvSpPr>
        <p:spPr>
          <a:xfrm>
            <a:off x="1134750" y="2271600"/>
            <a:ext cx="4295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9pPr>
          </a:lstStyle>
          <a:p/>
        </p:txBody>
      </p:sp>
      <p:sp>
        <p:nvSpPr>
          <p:cNvPr id="78" name="Google Shape;78;p9"/>
          <p:cNvSpPr txBox="1"/>
          <p:nvPr>
            <p:ph idx="3" type="body"/>
          </p:nvPr>
        </p:nvSpPr>
        <p:spPr>
          <a:xfrm>
            <a:off x="6981875" y="3278700"/>
            <a:ext cx="4324200" cy="44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9" name="Google Shape;79;p9"/>
          <p:cNvSpPr txBox="1"/>
          <p:nvPr>
            <p:ph idx="4" type="subTitle"/>
          </p:nvPr>
        </p:nvSpPr>
        <p:spPr>
          <a:xfrm>
            <a:off x="6996125" y="2271600"/>
            <a:ext cx="4295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9pPr>
          </a:lstStyle>
          <a:p/>
        </p:txBody>
      </p:sp>
      <p:sp>
        <p:nvSpPr>
          <p:cNvPr id="80" name="Google Shape;80;p9"/>
          <p:cNvSpPr txBox="1"/>
          <p:nvPr>
            <p:ph idx="5" type="body"/>
          </p:nvPr>
        </p:nvSpPr>
        <p:spPr>
          <a:xfrm>
            <a:off x="12843250" y="3278700"/>
            <a:ext cx="4324200" cy="44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1" name="Google Shape;81;p9"/>
          <p:cNvSpPr txBox="1"/>
          <p:nvPr>
            <p:ph idx="6" type="subTitle"/>
          </p:nvPr>
        </p:nvSpPr>
        <p:spPr>
          <a:xfrm>
            <a:off x="12857500" y="2271600"/>
            <a:ext cx="4295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9pPr>
          </a:lstStyle>
          <a:p/>
        </p:txBody>
      </p:sp>
      <p:sp>
        <p:nvSpPr>
          <p:cNvPr id="82" name="Google Shape;82;p9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3355">
          <p15:clr>
            <a:srgbClr val="FF0000"/>
          </p15:clr>
        </p15:guide>
        <p15:guide id="2" pos="4124">
          <p15:clr>
            <a:schemeClr val="accent1"/>
          </p15:clr>
        </p15:guide>
        <p15:guide id="3" pos="423">
          <p15:clr>
            <a:schemeClr val="accent1"/>
          </p15:clr>
        </p15:guide>
        <p15:guide id="4" orient="horz" pos="423">
          <p15:clr>
            <a:schemeClr val="accent1"/>
          </p15:clr>
        </p15:guide>
        <p15:guide id="5" pos="3703">
          <p15:clr>
            <a:schemeClr val="accent1"/>
          </p15:clr>
        </p15:guide>
        <p15:guide id="6" pos="7396">
          <p15:clr>
            <a:schemeClr val="accent1"/>
          </p15:clr>
        </p15:guide>
        <p15:guide id="7" orient="horz" pos="5328">
          <p15:clr>
            <a:schemeClr val="accent1"/>
          </p15:clr>
        </p15:guide>
        <p15:guide id="8" pos="11088">
          <p15:clr>
            <a:schemeClr val="accent1"/>
          </p15:clr>
        </p15:guide>
        <p15:guide id="9" orient="horz" pos="1219">
          <p15:clr>
            <a:schemeClr val="accent1"/>
          </p15:clr>
        </p15:guide>
        <p15:guide id="10" pos="7816">
          <p15:clr>
            <a:schemeClr val="accent1"/>
          </p15:clr>
        </p15:guide>
        <p15:guide id="11" orient="horz" pos="939">
          <p15:clr>
            <a:schemeClr val="accent1"/>
          </p15:clr>
        </p15:guide>
        <p15:guide id="12" pos="2068">
          <p15:clr>
            <a:srgbClr val="E46962"/>
          </p15:clr>
        </p15:guide>
        <p15:guide id="13" pos="5760">
          <p15:clr>
            <a:srgbClr val="E46962"/>
          </p15:clr>
        </p15:guide>
        <p15:guide id="14" pos="9452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. Code">
  <p:cSld name="TITLE_AND_BODY_1_1_1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86" name="Google Shape;8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0"/>
          <p:cNvSpPr/>
          <p:nvPr/>
        </p:nvSpPr>
        <p:spPr>
          <a:xfrm>
            <a:off x="-250" y="-750"/>
            <a:ext cx="18288000" cy="914400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0"/>
          <p:cNvSpPr txBox="1"/>
          <p:nvPr/>
        </p:nvSpPr>
        <p:spPr>
          <a:xfrm>
            <a:off x="685800" y="434400"/>
            <a:ext cx="16916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n" sz="4800">
                <a:solidFill>
                  <a:srgbClr val="0B0B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Title Placeholder</a:t>
            </a:r>
            <a:endParaRPr sz="4800">
              <a:solidFill>
                <a:srgbClr val="0B0B0B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89" name="Google Shape;89;p10"/>
          <p:cNvSpPr txBox="1"/>
          <p:nvPr>
            <p:ph idx="1" type="body"/>
          </p:nvPr>
        </p:nvSpPr>
        <p:spPr>
          <a:xfrm>
            <a:off x="685800" y="1554750"/>
            <a:ext cx="16916400" cy="69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979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5760">
          <p15:clr>
            <a:srgbClr val="FF0000"/>
          </p15:clr>
        </p15:guide>
        <p15:guide id="6" orient="horz" pos="706">
          <p15:clr>
            <a:schemeClr val="accent1"/>
          </p15:clr>
        </p15:guide>
        <p15:guide id="7" orient="horz" pos="274">
          <p15:clr>
            <a:schemeClr val="accent1"/>
          </p15:clr>
        </p15:guide>
        <p15:guide id="8" orient="horz" pos="3154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. Dual Code">
  <p:cSld name="TITLE_AND_BODY_1_1_1_1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1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3" name="Google Shape;93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1"/>
          <p:cNvSpPr/>
          <p:nvPr/>
        </p:nvSpPr>
        <p:spPr>
          <a:xfrm>
            <a:off x="-250" y="-750"/>
            <a:ext cx="18288000" cy="914400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1"/>
          <p:cNvSpPr txBox="1"/>
          <p:nvPr/>
        </p:nvSpPr>
        <p:spPr>
          <a:xfrm>
            <a:off x="685800" y="434400"/>
            <a:ext cx="16916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n" sz="4800">
                <a:solidFill>
                  <a:srgbClr val="0B0B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Title Placeholder</a:t>
            </a:r>
            <a:endParaRPr sz="4800">
              <a:solidFill>
                <a:srgbClr val="0B0B0B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96" name="Google Shape;96;p11"/>
          <p:cNvSpPr txBox="1"/>
          <p:nvPr>
            <p:ph idx="1" type="body"/>
          </p:nvPr>
        </p:nvSpPr>
        <p:spPr>
          <a:xfrm>
            <a:off x="685800" y="1554750"/>
            <a:ext cx="8241000" cy="69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9361350" y="1554750"/>
            <a:ext cx="8241000" cy="69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979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5760">
          <p15:clr>
            <a:srgbClr val="FF0000"/>
          </p15:clr>
        </p15:guide>
        <p15:guide id="6" orient="horz" pos="706">
          <p15:clr>
            <a:schemeClr val="accent1"/>
          </p15:clr>
        </p15:guide>
        <p15:guide id="7" orient="horz" pos="274">
          <p15:clr>
            <a:schemeClr val="accent1"/>
          </p15:clr>
        </p15:guide>
        <p15:guide id="8" pos="5623">
          <p15:clr>
            <a:schemeClr val="accent1"/>
          </p15:clr>
        </p15:guide>
        <p15:guide id="9" pos="5897">
          <p15:clr>
            <a:schemeClr val="accent1"/>
          </p15:clr>
        </p15:guide>
        <p15:guide id="10" orient="horz" pos="3240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. Quote Full Card">
  <p:cSld name="CUSTOM_14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4" y="0"/>
            <a:ext cx="18288000" cy="102869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2"/>
          <p:cNvSpPr/>
          <p:nvPr/>
        </p:nvSpPr>
        <p:spPr>
          <a:xfrm flipH="1">
            <a:off x="1285650" y="1009650"/>
            <a:ext cx="15717000" cy="8268000"/>
          </a:xfrm>
          <a:prstGeom prst="round2DiagRect">
            <a:avLst>
              <a:gd fmla="val 20143" name="adj1"/>
              <a:gd fmla="val 0" name="adj2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2"/>
          <p:cNvSpPr txBox="1"/>
          <p:nvPr>
            <p:ph idx="1" type="body"/>
          </p:nvPr>
        </p:nvSpPr>
        <p:spPr>
          <a:xfrm>
            <a:off x="2110650" y="1908000"/>
            <a:ext cx="14067000" cy="6471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533400" lvl="0" marL="4572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-533400" lvl="1" marL="9144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-533400" lvl="2" marL="13716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-533400" lvl="3" marL="18288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-533400" lvl="4" marL="22860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-533400" lvl="5" marL="27432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-533400" lvl="6" marL="32004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-533400" lvl="7" marL="36576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-533400" lvl="8" marL="41148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225200" y="1210250"/>
            <a:ext cx="15837600" cy="129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 Light"/>
              <a:buNone/>
              <a:defRPr sz="5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225200" y="3107750"/>
            <a:ext cx="15837600" cy="60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Char char="●"/>
              <a:defRPr sz="3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419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Char char="○"/>
              <a:defRPr sz="3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810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810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810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○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810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810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810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○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810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rtl="0" algn="r">
              <a:buNone/>
              <a:defRPr sz="2000">
                <a:solidFill>
                  <a:schemeClr val="dk2"/>
                </a:solidFill>
              </a:defRPr>
            </a:lvl1pPr>
            <a:lvl2pPr lvl="1" rtl="0" algn="r">
              <a:buNone/>
              <a:defRPr sz="2000">
                <a:solidFill>
                  <a:schemeClr val="dk2"/>
                </a:solidFill>
              </a:defRPr>
            </a:lvl2pPr>
            <a:lvl3pPr lvl="2" rtl="0" algn="r">
              <a:buNone/>
              <a:defRPr sz="2000">
                <a:solidFill>
                  <a:schemeClr val="dk2"/>
                </a:solidFill>
              </a:defRPr>
            </a:lvl3pPr>
            <a:lvl4pPr lvl="3" rtl="0" algn="r">
              <a:buNone/>
              <a:defRPr sz="2000">
                <a:solidFill>
                  <a:schemeClr val="dk2"/>
                </a:solidFill>
              </a:defRPr>
            </a:lvl4pPr>
            <a:lvl5pPr lvl="4" rtl="0" algn="r">
              <a:buNone/>
              <a:defRPr sz="2000">
                <a:solidFill>
                  <a:schemeClr val="dk2"/>
                </a:solidFill>
              </a:defRPr>
            </a:lvl5pPr>
            <a:lvl6pPr lvl="5" rtl="0" algn="r">
              <a:buNone/>
              <a:defRPr sz="2000">
                <a:solidFill>
                  <a:schemeClr val="dk2"/>
                </a:solidFill>
              </a:defRPr>
            </a:lvl6pPr>
            <a:lvl7pPr lvl="6" rtl="0" algn="r">
              <a:buNone/>
              <a:defRPr sz="2000">
                <a:solidFill>
                  <a:schemeClr val="dk2"/>
                </a:solidFill>
              </a:defRPr>
            </a:lvl7pPr>
            <a:lvl8pPr lvl="7" rtl="0" algn="r">
              <a:buNone/>
              <a:defRPr sz="2000">
                <a:solidFill>
                  <a:schemeClr val="dk2"/>
                </a:solidFill>
              </a:defRPr>
            </a:lvl8pPr>
            <a:lvl9pPr lvl="8" rtl="0" algn="r">
              <a:buNone/>
              <a:defRPr sz="2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 txBox="1"/>
          <p:nvPr/>
        </p:nvSpPr>
        <p:spPr>
          <a:xfrm>
            <a:off x="279350" y="9860050"/>
            <a:ext cx="79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7D97AD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© 2024 Udacity. </a:t>
            </a:r>
            <a:endParaRPr sz="10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7" name="Google Shape;107;p13"/>
          <p:cNvSpPr txBox="1"/>
          <p:nvPr>
            <p:ph type="ctrTitle"/>
          </p:nvPr>
        </p:nvSpPr>
        <p:spPr>
          <a:xfrm>
            <a:off x="1225200" y="2813950"/>
            <a:ext cx="10070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Open Sans"/>
              <a:buNone/>
            </a:pPr>
            <a:r>
              <a:rPr lang="en"/>
              <a:t>Analysis of A/B Test Results</a:t>
            </a:r>
            <a:endParaRPr sz="1000"/>
          </a:p>
        </p:txBody>
      </p:sp>
      <p:sp>
        <p:nvSpPr>
          <p:cNvPr id="108" name="Google Shape;108;p13"/>
          <p:cNvSpPr txBox="1"/>
          <p:nvPr>
            <p:ph idx="1" type="subTitle"/>
          </p:nvPr>
        </p:nvSpPr>
        <p:spPr>
          <a:xfrm>
            <a:off x="1256200" y="7559875"/>
            <a:ext cx="10039800" cy="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rPr b="1" lang="en"/>
              <a:t>Data Scientist: A/B Test Analysis Project</a:t>
            </a:r>
            <a:endParaRPr b="1"/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t/>
            </a:r>
            <a:endParaRPr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5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Agenda</a:t>
            </a:r>
            <a:endParaRPr sz="6400"/>
          </a:p>
        </p:txBody>
      </p:sp>
      <p:sp>
        <p:nvSpPr>
          <p:cNvPr id="124" name="Google Shape;124;p15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Findings of</a:t>
            </a:r>
            <a:r>
              <a:rPr lang="en">
                <a:solidFill>
                  <a:schemeClr val="accent1"/>
                </a:solidFill>
              </a:rPr>
              <a:t xml:space="preserve"> A/B test analysis</a:t>
            </a:r>
            <a:endParaRPr sz="3000">
              <a:solidFill>
                <a:srgbClr val="2D3D4A"/>
              </a:solidFill>
            </a:endParaRPr>
          </a:p>
          <a:p>
            <a:pPr indent="-723900" lvl="0" marL="91440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Experiment Setup</a:t>
            </a:r>
            <a:endParaRPr sz="4200"/>
          </a:p>
          <a:p>
            <a:pPr indent="-7239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Conversion Rates</a:t>
            </a:r>
            <a:endParaRPr sz="4200"/>
          </a:p>
          <a:p>
            <a:pPr indent="-7239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Experiment Results</a:t>
            </a:r>
            <a:endParaRPr sz="4200"/>
          </a:p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rgbClr val="2D3D4A"/>
              </a:solidFill>
            </a:endParaRPr>
          </a:p>
          <a:p>
            <a:pPr indent="0" lvl="0" marL="228600" rtl="0" algn="l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r>
              <a:t/>
            </a:r>
            <a:endParaRPr sz="30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6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How Was the Experiment Implemented?</a:t>
            </a:r>
            <a:endParaRPr sz="6400"/>
          </a:p>
        </p:txBody>
      </p:sp>
      <p:sp>
        <p:nvSpPr>
          <p:cNvPr id="130" name="Google Shape;130;p16"/>
          <p:cNvSpPr txBox="1"/>
          <p:nvPr>
            <p:ph idx="1" type="body"/>
          </p:nvPr>
        </p:nvSpPr>
        <p:spPr>
          <a:xfrm>
            <a:off x="685850" y="1828800"/>
            <a:ext cx="16393800" cy="3143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/>
              <a:t xml:space="preserve">Total Variant Visitors: </a:t>
            </a:r>
            <a:r>
              <a:rPr lang="en">
                <a:solidFill>
                  <a:srgbClr val="065A82"/>
                </a:solidFill>
              </a:rPr>
              <a:t>35,211</a:t>
            </a:r>
            <a:endParaRPr>
              <a:solidFill>
                <a:srgbClr val="FF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/>
              <a:t xml:space="preserve">Total Control Participants: </a:t>
            </a:r>
            <a:r>
              <a:rPr lang="en">
                <a:solidFill>
                  <a:srgbClr val="065A82"/>
                </a:solidFill>
              </a:rPr>
              <a:t>34,678</a:t>
            </a:r>
            <a:endParaRPr>
              <a:solidFill>
                <a:srgbClr val="FF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65A82"/>
                </a:solidFill>
              </a:rPr>
              <a:t>Users from: US (69.9%), UK (25.1%), CA (5.0%)</a:t>
            </a:r>
            <a:endParaRPr>
              <a:solidFill>
                <a:srgbClr val="FF0000"/>
              </a:solidFill>
            </a:endParaRPr>
          </a:p>
          <a:p>
            <a:pPr indent="0" lvl="0" marL="228600" rtl="0" algn="l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r>
              <a:t/>
            </a:r>
            <a:endParaRPr sz="3000">
              <a:solidFill>
                <a:srgbClr val="000000"/>
              </a:solidFill>
            </a:endParaRPr>
          </a:p>
        </p:txBody>
      </p:sp>
      <p:pic>
        <p:nvPicPr>
          <p:cNvPr id="131" name="Picture 130" descr="country_distribution_p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7475" y="4994500"/>
            <a:ext cx="8853051" cy="38205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7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Conversion</a:t>
            </a:r>
            <a:r>
              <a:rPr lang="en" sz="6400"/>
              <a:t xml:space="preserve"> Rates</a:t>
            </a:r>
            <a:endParaRPr sz="6400"/>
          </a:p>
        </p:txBody>
      </p:sp>
      <p:sp>
        <p:nvSpPr>
          <p:cNvPr id="137" name="Google Shape;137;p17"/>
          <p:cNvSpPr txBox="1"/>
          <p:nvPr>
            <p:ph idx="1" type="body"/>
          </p:nvPr>
        </p:nvSpPr>
        <p:spPr>
          <a:xfrm>
            <a:off x="947100" y="5878275"/>
            <a:ext cx="16393800" cy="258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 xml:space="preserve">Executive Summary: </a:t>
            </a:r>
            <a:r>
              <a:rPr lang="en">
                <a:solidFill>
                  <a:srgbClr val="065A82"/>
                </a:solidFill>
              </a:rPr>
              <a:t>The treatment page outperforms the control in all countries. Treatment conversion (15.53%) exceeds control (10.53%) by +5.01 pp. The US, UK, and CA all show significant lifts. Country differences are modest; the treatment effect is the dominant driver of conversion.</a:t>
            </a:r>
            <a:endParaRPr>
              <a:solidFill>
                <a:srgbClr val="065A82"/>
              </a:solidFill>
            </a:endParaRPr>
          </a:p>
          <a:p>
            <a:pPr indent="0" lvl="0" marL="228600" rtl="0" algn="l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r>
              <a:t/>
            </a:r>
            <a:endParaRPr sz="3000">
              <a:solidFill>
                <a:srgbClr val="000000"/>
              </a:solidFill>
            </a:endParaRPr>
          </a:p>
        </p:txBody>
      </p:sp>
      <p:graphicFrame>
        <p:nvGraphicFramePr>
          <p:cNvPr id="138" name="Google Shape;138;p17"/>
          <p:cNvGraphicFramePr/>
          <p:nvPr/>
        </p:nvGraphicFramePr>
        <p:xfrm>
          <a:off x="952500" y="2028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{E1C8DA9E-B1A0-4A86-91D4-0D2497F3468D}</a:tableStyleId>
              </a:tblPr>
              <a:tblGrid>
                <a:gridCol w="4095750"/>
                <a:gridCol w="4095750"/>
                <a:gridCol w="4095750"/>
                <a:gridCol w="4095750"/>
              </a:tblGrid>
              <a:tr h="981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3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U.S.</a:t>
                      </a:r>
                      <a:endParaRPr b="1" sz="3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3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U.K.</a:t>
                      </a:r>
                      <a:endParaRPr b="1" sz="3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3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CA</a:t>
                      </a:r>
                      <a:endParaRPr b="1" sz="3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>
                    <a:solidFill>
                      <a:srgbClr val="D9D9D9"/>
                    </a:solidFill>
                  </a:tcPr>
                </a:tc>
              </a:tr>
              <a:tr h="981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3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Control</a:t>
                      </a:r>
                      <a:endParaRPr b="1" sz="3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>
                          <a:solidFill>
                            <a:srgbClr val="065A82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10.73%</a:t>
                      </a:r>
                      <a:endParaRPr sz="2800">
                        <a:solidFill>
                          <a:srgbClr val="065A82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>
                          <a:solidFill>
                            <a:srgbClr val="065A82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10.16%</a:t>
                      </a:r>
                      <a:endParaRPr sz="2800">
                        <a:solidFill>
                          <a:srgbClr val="065A82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>
                          <a:solidFill>
                            <a:srgbClr val="065A82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9.45%</a:t>
                      </a:r>
                      <a:endParaRPr sz="2800">
                        <a:solidFill>
                          <a:srgbClr val="065A82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/>
                </a:tc>
              </a:tr>
              <a:tr h="981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3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Treatment</a:t>
                      </a:r>
                      <a:endParaRPr b="1" sz="3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>
                          <a:solidFill>
                            <a:srgbClr val="065A82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15.78%</a:t>
                      </a:r>
                      <a:endParaRPr sz="2800">
                        <a:solidFill>
                          <a:srgbClr val="065A82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>
                          <a:solidFill>
                            <a:srgbClr val="065A82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14.87%</a:t>
                      </a:r>
                      <a:endParaRPr sz="2800">
                        <a:solidFill>
                          <a:srgbClr val="065A82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>
                          <a:solidFill>
                            <a:srgbClr val="065A82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15.40%</a:t>
                      </a:r>
                      <a:endParaRPr sz="2800">
                        <a:solidFill>
                          <a:srgbClr val="065A82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8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Experiment Results</a:t>
            </a:r>
            <a:endParaRPr sz="6400"/>
          </a:p>
        </p:txBody>
      </p:sp>
      <p:sp>
        <p:nvSpPr>
          <p:cNvPr id="144" name="Google Shape;144;p18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457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en">
                <a:solidFill>
                  <a:srgbClr val="0B0B0B"/>
                </a:solidFill>
              </a:rPr>
              <a:t xml:space="preserve">Treatment Conversion Rate: </a:t>
            </a:r>
            <a:r>
              <a:rPr lang="en">
                <a:solidFill>
                  <a:srgbClr val="065A82"/>
                </a:solidFill>
              </a:rPr>
              <a:t>15.53%</a:t>
            </a:r>
            <a:endParaRPr>
              <a:solidFill>
                <a:srgbClr val="065A82"/>
              </a:solidFill>
            </a:endParaRPr>
          </a:p>
          <a:p>
            <a:pPr indent="-457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en">
                <a:solidFill>
                  <a:srgbClr val="0B0B0B"/>
                </a:solidFill>
              </a:rPr>
              <a:t xml:space="preserve">Control Conversion Rate:​ </a:t>
            </a:r>
            <a:r>
              <a:rPr lang="en">
                <a:solidFill>
                  <a:srgbClr val="065A82"/>
                </a:solidFill>
              </a:rPr>
              <a:t>10.53%</a:t>
            </a:r>
            <a:endParaRPr>
              <a:solidFill>
                <a:srgbClr val="065A82"/>
              </a:solidFill>
            </a:endParaRPr>
          </a:p>
          <a:p>
            <a:pPr indent="-457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en">
                <a:solidFill>
                  <a:srgbClr val="0B0B0B"/>
                </a:solidFill>
              </a:rPr>
              <a:t xml:space="preserve">Delta in Treatment vs. Control Conversion Rate:​ </a:t>
            </a:r>
            <a:r>
              <a:rPr lang="en">
                <a:solidFill>
                  <a:srgbClr val="065A82"/>
                </a:solidFill>
              </a:rPr>
              <a:t>+5.01 percentage points</a:t>
            </a:r>
            <a:endParaRPr>
              <a:solidFill>
                <a:srgbClr val="065A82"/>
              </a:solidFill>
            </a:endParaRPr>
          </a:p>
          <a:p>
            <a:pPr indent="-457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en">
                <a:solidFill>
                  <a:srgbClr val="0B0B0B"/>
                </a:solidFill>
              </a:rPr>
              <a:t xml:space="preserve">p-value:​ </a:t>
            </a:r>
            <a:r>
              <a:rPr lang="en">
                <a:solidFill>
                  <a:srgbClr val="065A82"/>
                </a:solidFill>
              </a:rPr>
              <a:t>&lt; 0.0001 (z = 19.65)</a:t>
            </a:r>
            <a:endParaRPr>
              <a:solidFill>
                <a:srgbClr val="065A82"/>
              </a:solidFill>
            </a:endParaRPr>
          </a:p>
          <a:p>
            <a:pPr indent="-457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en">
                <a:solidFill>
                  <a:srgbClr val="0B0B0B"/>
                </a:solidFill>
              </a:rPr>
              <a:t>Conclusion:</a:t>
            </a:r>
            <a:endParaRPr>
              <a:solidFill>
                <a:srgbClr val="0B0B0B"/>
              </a:solidFill>
            </a:endParaRPr>
          </a:p>
          <a:p>
            <a:pPr indent="-4191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Char char="○"/>
            </a:pPr>
            <a:r>
              <a:rPr lang="en">
                <a:solidFill>
                  <a:srgbClr val="0B0B0B"/>
                </a:solidFill>
              </a:rPr>
              <a:t>​</a:t>
            </a:r>
            <a:r>
              <a:rPr lang="en">
                <a:solidFill>
                  <a:srgbClr val="065A82"/>
                </a:solidFill>
              </a:rPr>
              <a:t>We reject H0 with very high confidence (z = 19.65, p &lt; 0.0001). The new page is statistically significantly better. The treatment page should be adopted — it delivers a +5.01 pp lift in conversions, confirmed across all three countries (US, UK, CA) and validated by both z-test and chi-squared test.</a:t>
            </a:r>
            <a:endParaRPr>
              <a:solidFill>
                <a:srgbClr val="065A8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B0B0B"/>
              </a:solidFill>
            </a:endParaRPr>
          </a:p>
          <a:p>
            <a:pPr indent="0" lvl="0" marL="228600" rtl="0" algn="l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r>
              <a:t/>
            </a:r>
            <a:endParaRPr sz="3000">
              <a:solidFill>
                <a:srgbClr val="0B0B0B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Udacity 2024 Student Template">
  <a:themeElements>
    <a:clrScheme name="Simple Light">
      <a:dk1>
        <a:srgbClr val="0B0B0B"/>
      </a:dk1>
      <a:lt1>
        <a:srgbClr val="FFFFFF"/>
      </a:lt1>
      <a:dk2>
        <a:srgbClr val="171A53"/>
      </a:dk2>
      <a:lt2>
        <a:srgbClr val="F6F6F6"/>
      </a:lt2>
      <a:accent1>
        <a:srgbClr val="2015FF"/>
      </a:accent1>
      <a:accent2>
        <a:srgbClr val="00C5A1"/>
      </a:accent2>
      <a:accent3>
        <a:srgbClr val="DBE2E8"/>
      </a:accent3>
      <a:accent4>
        <a:srgbClr val="BDEA09"/>
      </a:accent4>
      <a:accent5>
        <a:srgbClr val="6597FF"/>
      </a:accent5>
      <a:accent6>
        <a:srgbClr val="B181FF"/>
      </a:accent6>
      <a:hlink>
        <a:srgbClr val="2015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